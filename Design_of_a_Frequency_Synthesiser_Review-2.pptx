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0" r:id="rId4"/>
    <p:sldId id="268" r:id="rId17"/>
    <p:sldId id="261" r:id="rId5"/>
    <p:sldId id="262" r:id="rId6"/>
    <p:sldId id="263" r:id="rId7"/>
    <p:sldId id="264" r:id="rId8"/>
    <p:sldId id="269" r:id="rId18"/>
    <p:sldId id="270" r:id="rId19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4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 Temperature-Compensated PLL Frequency Synthesiser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Aaryan Dogra (23BEC1032)  ·  Yugeshwaran (23BEC1404)  ·  Viju Sanjai (23BEC1306)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B. Bindu, School of Electronics Engineering (SENSE)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 ·  30.09.2026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Recap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500" b="1">
                <a:solidFill>
                  <a:srgbClr val="1D2F82"/>
                </a:solidFill>
                <a:latin typeface="Calibri"/>
              </a:rPr>
              <a:t>Problem recap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A PLL's ring-VCO drifts with temperature -- threshold voltage, mobility and capacitance all shift, so the same control voltage gives a different frequency hot vs. cold.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A compensation network cancels this by design, but sizing it needs a drift figure measured on the real topology, in the real process -- not assumed.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500" b="1">
                <a:solidFill>
                  <a:srgbClr val="1D2F82"/>
                </a:solidFill>
                <a:latin typeface="Calibri"/>
              </a:rPr>
              <a:t>Objectives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Design an integer-N charge-pump PLL (ref -&gt; PFD -&gt; charge pump -&gt; loop filter -&gt; 5-stage current-starved ring VCO -&gt; /8 divider) in sky130, open-source, headless.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Measure uncompensated drift across all 5 process corners, then design and validate a temperature-compensation network with real statistical rigor (Monte Carlo + hypothesis testing).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500" b="1">
                <a:solidFill>
                  <a:srgbClr val="1D2F82"/>
                </a:solidFill>
                <a:latin typeface="Calibri"/>
              </a:rPr>
              <a:t>Refinements after Review-I feedback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Full 5-corner grid run (tt/ff/ss/sf/fs), not a 3-corner spot-check -- corrected the reported tempco spread from 3.4x to the real 12.5x (112-1399 ppm/C).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Cold-start acquisition risk (flagged as open in Review 1) fixed and verified: a true 0V cold start now locks in 839 ns.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Added a second-order (curvature-matched) compensation network, novelty-checked against prior art before committing to the claim (see Literature Review).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88135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"/>
                <a:gridCol w="1741017"/>
                <a:gridCol w="2611526"/>
                <a:gridCol w="2611526"/>
                <a:gridCol w="3482035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Title / Source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 / Approach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Findings &amp; Research Gap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G. Souliotis et al., 2022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Temperature compensated ring oscillator based VCO, AEU Int. J. Electron. Commun.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PTAT current compensation of a ring VCO inside a PLL; 180nm, 480MHz, fabricated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Closest topology benchmark: -1.5%/+0.4% over -40-&gt;120C, measured. First-order only; different node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C. Stancu et al., 2023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Temp. and power-supply compensated CMOS clock circuit based on ring osc., Electronics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Temp + supply compensated 50MHz ring-oscillator clock; simulation only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1.6% temperature error pre-layout. A clock circuit, never closed into a PLL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Z. Geng et al., 2018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Low power fast locking PLL freq. synthesizer with temp. compensation, EAME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Freq. presetting + dynamic loop BW + static/dynamic temp. comp.; 180nm, 2.1-2.6GHz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Lock &lt;2us over 0-80C, -117dBc/Hz@1MHz, 9mW. Stability claim is the locked output, set by the crystal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Y. You et al., 2014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12GHz 67% tuning, 0.37ps RJrms PLL, LC-VCO temp. comp., 0.13um CMOS, IEEE RFIC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LC-VCO PLL for serial links; comp. scheme preserves tuning range; 5.6-13.4GHz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Stays locked -40-&gt;85C. Needs inductor models our process supports poorly; not portable to a ring VCO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S. Sinha, 2002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Design of an integrated CMOS PLL frequency synthesizer, IEEE MELECON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Dual-loop CP-PLL, 0.35um, 2.4-2.5GHz, 1MHz steps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-82dBc/Hz@10kHz. Architectural reference for our loop; no temperature compensation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E. M. V. Freitas et al., 2025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Using open source EDA tools in ASICs for HEP: a mixed comparison, JINST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Open-source vs commercial flows on IHP 130nm blocks incl. a current-starved ring VCO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Digital QoR quantified (+53% area, +118% power); analog VCO comparison qualitative, open-loop, no MC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M. Thiriloganathan et al., 2026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2.4GHz LC-VCO fractional-N PLL, open-source, 130nm BiCMOS, SMACD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Fully open-source flow (Xschem/ngspice/KLayout/OpenEMS), EM-modelled inductor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-100.8dBc/Hz@1MHz. Closes a loop open-source, but no temp. compensation, no PVT/Monte Carlo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R. N. S. Raphael et al., 2019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PLL-based frequency synthesizer for digital systems driving, BTSym'18 (Springer)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3rd-order CP-PLL for clock generation, integer-N (N=8-16), VCO input-cap-aware LF model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Settling &lt;2us. Same loop class as ours; no temperature compensation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Detailed Literature Review (contd.)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881358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"/>
                <a:gridCol w="1741017"/>
                <a:gridCol w="2611526"/>
                <a:gridCol w="2611526"/>
                <a:gridCol w="3482035"/>
              </a:tblGrid>
              <a:tr h="537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Title / Source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 / Approach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Findings &amp; Research Gap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Y. Li, K. Du, J. Zhang, 2022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Design of ring oscillator with temperature compensation effect, Int. J. RF Microw. CAE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Positive-TC supply voltage on a 31-stage ring, 0.18um; 33kHz sleep timer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120 ppm/C (1.6%) over -40-&gt;80C. Single linear coefficient; kHz timer, not a PLL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H. H. Hammam et al., 2022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An ultra-low-power process-and-temperature compensated ring oscillator, IEEE ICEEE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3-stage current-starved ring, 130nm, process + temperature compensation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Up to 90% less variation vs. plain current-starved ring, 346nW. Standalone oscillator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S. Zhang et al., 2016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Temperature compensation technique for ring oscillators with tail current, Electron. Lett.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Tail current = constant source + PTAT current, first-order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Foundational first-order technique; no numbers reported in abstract; not closed-loop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M. Ortner, M. Punzenberger, 2017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Oscillators using quadratic temperature compensation, US Pat. 9,748,962 B2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Linear + quadratic temperature term for a VCO, -40-&gt;85C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Generic 2nd-order compensation is patented -- narrows our claim to ring-VCO + closed PLL + open PDK + stats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D. Patrinos, G. Souliotis, 2025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Low-voltage, low-power 2.5GHz ring oscillator with process &amp; temp. comp., JLPEA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PTAT current + process-corner detection/tuning; 22nm, 0.8V; post-layout sim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Drift 23.9%-&gt;5.4% (tt) and 47.3%-&gt;7.2% (PVT). Corner-aware like our C(corner); not in a PLL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M. Sivasakthi, P. Radhika, 2024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PVT tolerant hybrid current starved ring VCO, bulk-driven keeper, 45nm, AEU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Two current-starved ring VCOs; Cadence GPDK45; corner + Monte Carlo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6.97GHz, -121.5dBc/Hz@1MHz. PVT tolerance of the VCO itself, no compensation network or loop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S. Madheswaran, R. Panneerselvam, 2024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7-stage MCML power-gated current starved VCO for PLL, IJECE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MOS current-mode logic delay cells with power gating, 45nm, simulation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3.06GHz, -125.9dBc/Hz. Same device class as ours; no closed-loop temperature characterisation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50000"/>
            <a:ext cx="108813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100" b="0">
                <a:solidFill>
                  <a:srgbClr val="000000"/>
                </a:solidFill>
                <a:latin typeface="Calibri"/>
              </a:rPr>
              <a:t>Research gap (from all 15): no reported work combines a compensated ring VCO inside a closed loop, characterised across process corners with Monte Carlo rigor -- that gap is what this project fills.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pll_block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27533"/>
            <a:ext cx="10881360" cy="31966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50000"/>
            <a:ext cx="10881360" cy="1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300" b="0">
                <a:solidFill>
                  <a:srgbClr val="000000"/>
                </a:solidFill>
                <a:latin typeface="Calibri"/>
              </a:rPr>
              <a:t>Integer-N charge-pump PLL: REF -&gt; PFD -&gt; charge pump -&gt; passive loop filter -&gt; 5-stage current-starved ring VCO -&gt; /8 divider, with a compensation network on the VCO bias path.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300" b="0">
                <a:solidFill>
                  <a:srgbClr val="000000"/>
                </a:solidFill>
                <a:latin typeface="Calibri"/>
              </a:rPr>
              <a:t>Scoping decisions (deliberate, documented): charge pump is an idealised 20uA behavioural source (transistor-level is Review 3, once layout needs real devices anyway).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300" b="0">
                <a:solidFill>
                  <a:srgbClr val="000000"/>
                </a:solidFill>
                <a:latin typeface="Calibri"/>
              </a:rPr>
              <a:t>PFD uses edge-detectors + NOR SR-latches, not resettable DFFs -- a reliable async reset fights the latch's own bistable feedback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10881360" cy="3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400" b="1">
                <a:solidFill>
                  <a:srgbClr val="1D2F82"/>
                </a:solidFill>
                <a:latin typeface="Calibri"/>
              </a:rPr>
              <a:t>Modules developed and integrated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VCO (5-stage current-starved ring), PFD, charge pump, passive loop filter, /8 divider, digital primitive cell library (INV/TG/DFF/TFF) -- all hand-written SPICE, ngspice, headless.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Temperature-compensation network: 1st-order (PTAT/CTAT-equivalent) and empirically-refined 2nd-order (curvature-matched), as a parameterised behavioural correction voltage.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Acquisition-boosted charge pump (5x current until the divider's first edge) -- closes the cold-start dead-zone risk carried from Review 1.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400" b="1">
                <a:solidFill>
                  <a:srgbClr val="1D2F82"/>
                </a:solidFill>
                <a:latin typeface="Calibri"/>
              </a:rPr>
              <a:t>Algorithms implemented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Coefficient derivation: analytical 1st-order (from the measured f(T) polynomial fit and K_VCO), then empirical 2nd-order refit against the measured post-1st-order residual -- zero extra simulation for the refinement step.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Statistics: paired t-test, Wilcoxon signed-rank (normal approximation), OLS regression with slope confidence interval -- hand-implemented (no scipy in this environment), self-tested.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400" b="1">
                <a:solidFill>
                  <a:srgbClr val="1D2F82"/>
                </a:solidFill>
                <a:latin typeface="Calibri"/>
              </a:rPr>
              <a:t>Code snippet -- the compensation correction (ngspice behavioural voltage source)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0000"/>
            <a:ext cx="1088136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02020"/>
                </a:solidFill>
                <a:latin typeface="Courier New"/>
              </a:rPr>
              <a:t>Bcomp vctrl vctrl_nom V = 'k1*(T-27) + k2*(T-27)*(T-27)'
  ; k1 = -1.322e-4 V/C, k2 = 2.891e-7 V/C^2 (tt, empirically refined)
  ; verified via an isolated 4-line polarity test before use in the full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(75%)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10881360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400" b="0">
                <a:solidFill>
                  <a:srgbClr val="000000"/>
                </a:solidFill>
                <a:latin typeface="Calibri"/>
              </a:rPr>
              <a:t>VCO tuning: K_VCO ~= 669 MHz/V at 0.9V (polynomial fit, not a secant); 18-&gt;358 MHz over 0.65-&gt;1.40V. Oscillation lost below ~0.60-0.65V (device-threshold-limited).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400" b="0">
                <a:solidFill>
                  <a:srgbClr val="000000"/>
                </a:solidFill>
                <a:latin typeface="Calibri"/>
              </a:rPr>
              <a:t>Full 5-corner grid (all of tt/ff/ss/sf/fs, not a 3-corner spot-check) -- corrects the Review-1 finding: real tempco spread is 12.5x, not 3.4x. Worst corner (fs) wasn't checked before.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050000"/>
          <a:ext cx="82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000"/>
                <a:gridCol w="1804000"/>
                <a:gridCol w="1804000"/>
                <a:gridCol w="3362000"/>
              </a:tblGrid>
              <a:tr h="36666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Corner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NMOS/PMOS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K_VCO (MHz/V)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Uncompensated tempco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sf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slow / fast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580.2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+112 ppm/C  (flattest)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fast / fast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763.6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+332 ppm/C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tt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typical / typical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669.3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+681 ppm/C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ss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slow / slow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568.2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+1070 ppm/C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3666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fs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fast / slow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688.7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+1399 ppm/C  (steepest)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00000" y="3200000"/>
            <a:ext cx="2400000" cy="10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000" b="1">
                <a:solidFill>
                  <a:srgbClr val="1D2F82"/>
                </a:solidFill>
                <a:latin typeface="Calibri"/>
              </a:rPr>
              <a:t>12.5x</a:t>
            </a:r>
          </a:p>
          <a:p>
            <a:pPr algn="ctr"/>
            <a:r>
              <a:rPr sz="1100">
                <a:solidFill>
                  <a:srgbClr val="808080"/>
                </a:solidFill>
                <a:latin typeface="Calibri"/>
              </a:rPr>
              <a:t>spread, not the 3.4x
previously reported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0" y="4300000"/>
            <a:ext cx="2400000" cy="10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000" b="1">
                <a:solidFill>
                  <a:srgbClr val="1D2F82"/>
                </a:solidFill>
                <a:latin typeface="Calibri"/>
              </a:rPr>
              <a:t>669</a:t>
            </a:r>
          </a:p>
          <a:p>
            <a:pPr algn="ctr"/>
            <a:r>
              <a:rPr sz="1100">
                <a:solidFill>
                  <a:srgbClr val="808080"/>
                </a:solidFill>
                <a:latin typeface="Calibri"/>
              </a:rPr>
              <a:t>MHz/V K_VCO
(tt, 0.9V, fit-derivative)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50000"/>
            <a:ext cx="1088136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200" b="0">
                <a:solidFill>
                  <a:srgbClr val="000000"/>
                </a:solidFill>
                <a:latin typeface="Calibri"/>
              </a:rPr>
              <a:t>Sensitivity insight: N/P-mismatched corners (sf, fs) bracket the entire tempco range, not the matched-speed corners (ff, ss) -- points at current-source balance, not absolute device speed, as the driving mechanism.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10881360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300" b="0">
                <a:solidFill>
                  <a:srgbClr val="000000"/>
                </a:solidFill>
                <a:latin typeface="Calibri"/>
              </a:rPr>
              <a:t>Compensation refit independently at every corner; every corner improves at both stages. Checked at 4 held-out temperatures never used in fitting (-30/10/40/70C): all stay inside the fitted envelope.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0000"/>
          <a:ext cx="10881358" cy="2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949"/>
                <a:gridCol w="1849831"/>
                <a:gridCol w="1849831"/>
                <a:gridCol w="1849831"/>
                <a:gridCol w="2285085"/>
                <a:gridCol w="1849831"/>
              </a:tblGrid>
              <a:tr h="34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Corner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Baseline span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1st-order span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2nd-order span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2nd-order max |dev|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Meets +/-0.3%?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</a:tr>
              <a:tr h="34166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4.15%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1.06%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0.10%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0.07%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34166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sf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1.40%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0.42%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0.24%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0.15%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34166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tt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8.51%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3.05%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1.12%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0.87%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34166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ss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13.37%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6.37%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3.32%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2.46%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3416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fs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17.49%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9.13%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5.31%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3.83%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00000"/>
            <a:ext cx="10881360" cy="1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300" b="1">
                <a:solidFill>
                  <a:srgbClr val="1D2F82"/>
                </a:solidFill>
                <a:latin typeface="Calibri"/>
              </a:rPr>
              <a:t>Our +/-0.3% target is met at ff and sf only -- not at the typical corner. Closing the gap needs a transistor-level network whose PTAT slope tracks process, and/or a per-corner trim (Review 3).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300" b="0">
                <a:solidFill>
                  <a:srgbClr val="000000"/>
                </a:solidFill>
                <a:latin typeface="Calibri"/>
              </a:rPr>
              <a:t>Naive analytical 2nd-order coefficients made tt worse (4.49% vs 3.05%): they assume constant K_VCO, which is false. Refitting against the measured 1st-order residual fixed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30000"/>
            <a:ext cx="105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808080"/>
                </a:solidFill>
                <a:latin typeface="Calibri"/>
              </a:rPr>
              <a:t>Scope: compensation is an ideal behavioural correction voltage (transistor-level in Review 3); closed-loop results are tt / 27 °C.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Results &amp; Analysis (contd.) -- Closed-Loop Lock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881359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153"/>
                <a:gridCol w="4026103"/>
                <a:gridCol w="4026103"/>
              </a:tblGrid>
              <a:tr h="4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Coarse-tuned start (0.85V)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TRUE cold start (0V, boosted)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Lock time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577 ns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839 ns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Settled V_ctrl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0.902 V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0.9002 V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Settled f_VCO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227.96 MHz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226.42 MHz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Spec / prediction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&lt; 2us spec; ~450ns analytical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&lt; 2us spec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550000"/>
            <a:ext cx="10881360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300" b="0">
                <a:solidFill>
                  <a:srgbClr val="000000"/>
                </a:solidFill>
                <a:latin typeface="Calibri"/>
              </a:rPr>
              <a:t>Cold-start acquisition dead zone (open risk since Review 1) -- fixed and verified. Built a 5x-boosted-current charge pump variant that reverts to nominal current once the divider produces its first edge (tracked via a B-source-charged integrating capacitor, reusing the same current-injection idiom already proven correct -- not a new digital latch and its metastable-initial-state risk).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300" b="0">
                <a:solidFill>
                  <a:srgbClr val="000000"/>
                </a:solidFill>
                <a:latin typeface="Calibri"/>
              </a:rPr>
              <a:t>Simulated from a TRUE 0V cold start (not the coarse-tuned 0.85V assumption): locks in 839 ns, comfortably inside the 2us spec -- worked on the first simulation attempt.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300" b="0">
                <a:solidFill>
                  <a:srgbClr val="000000"/>
                </a:solidFill>
                <a:latin typeface="Calibri"/>
              </a:rPr>
              <a:t>Two real bugs found and fixed while closing the original loop (Review 1): an inverted SPICE B-source node-order convention (caught with a 5-line isolated test before touching the full loop), and an inconsistent loop-filter capacitor initial condition (a 50ns charge-pump hold gate was added to test a wrong hypothesis first -- disproving it is what pointed at the real cause).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30000"/>
            <a:ext cx="105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808080"/>
                </a:solidFill>
                <a:latin typeface="Calibri"/>
              </a:rPr>
              <a:t>Scope: compensation is an ideal behavioural correction voltage (transistor-level in Review 3); closed-loop results are tt / 27 °C.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Results (contd.) -- Monte Carlo &amp; Benchmark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881358" cy="1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4916"/>
                <a:gridCol w="870508"/>
                <a:gridCol w="3264408"/>
                <a:gridCol w="2611526"/>
              </a:tblGrid>
              <a:tr h="31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Arm (tt, mismatch on, paired by seed)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|drift|, 85C vs -40C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</a:tr>
              <a:tr h="312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Baseline (uncompensated)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18.93 MHz  (8.4%)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[16.20, 21.65]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312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1st-order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5.86 MHz  (2.6%)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[4.62, 7.09]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312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2nd-order (curvature-matched)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3.37 MHz  (1.5%)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[2.33, 4.41]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700000"/>
            <a:ext cx="10881360" cy="1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200" b="1">
                <a:solidFill>
                  <a:srgbClr val="1D2F82"/>
                </a:solidFill>
                <a:latin typeface="Calibri"/>
              </a:rPr>
              <a:t>Both stages significantly reduce drift (12/12 seeds). 2nd-order beats 1st-order: -2.48 MHz, 95% CI [0.81, 4.15], paired t-test and Wilcoxon agree, 23/30 seeds.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200" b="0">
                <a:solidFill>
                  <a:srgbClr val="000000"/>
                </a:solidFill>
                <a:latin typeface="Calibri"/>
              </a:rPr>
              <a:t>Correction on record: our first pass tested signed drift and overstated this at n=12 (1st-order over-corrects, so the sign flipped). On |drift| it was not significant at n=12 -- n=30 is what earns the claim.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950000"/>
          <a:ext cx="10881358" cy="15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780"/>
                <a:gridCol w="2611526"/>
                <a:gridCol w="3264408"/>
                <a:gridCol w="1958644"/>
              </a:tblGrid>
              <a:tr h="31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Residual drift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Lock time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This work, 2nd-order (tt)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sky130, simulation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+/-0.87% max dev., -40 to 85C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839 ns (0V cold start)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Souliotis et al. 2022 [1]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180nm, measured silicon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-1.5% / +0.4%, -40 to 120C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not reported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Stancu et al. 2023 [2]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simulation, 50 MHz clock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1.6% temperature error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Geng et al. 2018 [3]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180nm, measured silicon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not reported as drift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&lt; 2 us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00000"/>
            <a:ext cx="1088136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100" b="0">
                <a:solidFill>
                  <a:srgbClr val="000000"/>
                </a:solidFill>
                <a:latin typeface="Calibri"/>
              </a:rPr>
              <a:t>Comparable to published work, but ours is simulation of an ideal correction network vs. their measured silicon -- not a like-for-like claim until the transistor-level network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30000"/>
            <a:ext cx="105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808080"/>
                </a:solidFill>
                <a:latin typeface="Calibri"/>
              </a:rPr>
              <a:t>Scope: compensation is an ideal behavioural correction voltage (transistor-level in Review 3); closed-loop results are tt / 27 °C.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Remaining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300" b="1">
                <a:solidFill>
                  <a:srgbClr val="1D2F82"/>
                </a:solidFill>
                <a:latin typeface="Calibri"/>
              </a:rPr>
              <a:t>Challenges faced and solutions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SPICE B-source polarity and an inconsistent loop-filter initial condition broke the first closed-loop runs -- each isolated with a minimal test (and one wrong hypothesis disproved) before touching the full loop.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Naive analytical 2nd-order coefficients over-corrected the cold end -- fixed by refitting against the measured 1st-order residual; the refit was then checked at 4 held-out temperatures it never saw.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Caught our own statistics error: the first Monte Carlo pass compared SIGNED drift, which made 1st- vs 2nd-order look significant only because the sign flipped. Re-tested on |drift| and re-run at n=30.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Novelty check found a 2017 patent on generic quadratic compensation -- narrowed our claim to ring-VCO + closed-loop PLL + open PDK + statistically validated quantification.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300" b="1">
                <a:solidFill>
                  <a:srgbClr val="1D2F82"/>
                </a:solidFill>
                <a:latin typeface="Calibri"/>
              </a:rPr>
              <a:t>Remaining work (25%)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Close the spec gap: +/-0.3% is met at ff and sf only (tt 0.87%, ss 2.46%, fs 3.83%) -- a transistor-level compensation network whose PTAT slope tracks process, plus a per-corner trim.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Transistor-level charge pump; layout in Magic, DRC, LVS (netgen), post-layout re-simulation.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Cadence/Virtuoso cross-validation arm and the actual H1 regression (eps_res vs C) -- the other half of the research hypothesis, pending lab access.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1300" b="1">
                <a:solidFill>
                  <a:srgbClr val="1D2F82"/>
                </a:solidFill>
                <a:latin typeface="Calibri"/>
              </a:rPr>
              <a:t>Timeline to Review-III (28.10.2026)</a:t>
            </a:r>
          </a:p>
          <a:p>
            <a:pPr marL="450000" indent="-177800">
              <a:spcAft>
                <a:spcPts val="800"/>
              </a:spcAft>
              <a:buChar char="-"/>
            </a:pPr>
            <a:r>
              <a:rPr sz="1300" b="0">
                <a:solidFill>
                  <a:srgbClr val="000000"/>
                </a:solidFill>
                <a:latin typeface="Calibri"/>
              </a:rPr>
              <a:t>Weeks 1-2: transistor-level CP + compensation network.  Week 3: layout / DRC / LVS.  Week 4: Virtuoso arm, H1 regression, final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[1] G. Souliotis, E. Keramida, F. Plessas, R. Malatesta, and S. Vlassis, “Temperature compensated ring oscillator based VCO,” AEU – Int. J. Electron. Commun., vol. 149, Art. no. 154195, May 2022.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[2] C. Stancu, A. Neacsu, O. Profirescu, D. Dobrescu, and L. Dobrescu, “Temperature and power supply compensated CMOS clock circuit based on ring oscillator,” Electronics, vol. 12, no. 3, Art. no. 507, Jan. 2023.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[3] Z. Geng, X. Ma, and Z. Li, “A low power fast locking PLL frequency synthesizer with temperature compensation,” in Proc. 3rd Int. Conf. EAME, Atlantis Press, Jun. 2018, pp. 281–285.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[4] Y. You, D. Huang, J. Chen, and S. Chakraborty, “A 12GHz 67% tuning range 0.37ps RJrms PLL with LC-VCO temperature compensation scheme in 0.13µm CMOS,” in Proc. IEEE RFIC, Tampa, FL, USA, Jun. 2014, pp. 101–104.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[5] S. Sinha, “Design of an integrated CMOS PLL frequency synthesizer,” in Proc. 11th IEEE MELECON, Cairo, Egypt, 2002, pp. 220–224.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[6] É. M. V. Freitas et al., “Using open source EDA tools in ASICs for HEP: A mixed comparison,” J. Instrum., vol. 20, no. 12, Art. no. P12022, Dec. 2025.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[7] M. Thiriloganathan et al., “A 2.4 GHz LC-VCO fractional-N phase locked loop open-source design in 130-nm BiCMOS,” in Proc. 22nd Int. Conf. SMACD, 2026, arXiv:2607.08852.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[8] R. N. S. Raphael, A. M. Pinto, L. T. Manera, and S. Finco, “Phase-locked loop (PLL)-based frequency synthesizer for digital systems driving,” in Proc. BTSym’18, SIST vol. 140, Springer, 2019, pp. 395–406.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[9] Y. Li, K. Du, and J. Zhang, “Design of ring oscillator with temperature compensation effect,” Int. J. RF Microw. Comput.-Aided Eng., vol. 32, no. 11, Art. no. e23374, Nov. 2022.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[10] H. H. Hammam, K. M. Hassan, and S. A. Ibrahim, “An ultra-low-power process-and-temperature compensated ring oscillator,” in Proc. 9th Int. Conf. ICEEE, Alanya, Turkey, Mar. 2022.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[11] S. Zhang, A. Li, Y. Han, L. Jie, X. Han, and R. C. C. Cheung, “Temperature compensation technique for ring oscillators with tail current,” Electron. Lett., vol. 52, no. 13, pp. 1108–1110, Jun. 2016.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[12] M. Ortner and M. Punzenberger, “Systems and methods for oscillators using quadratic temperature compensation,” U.S. Patent 9 748 962 B2, Aug. 29, 2017.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[13] D. Patrinos and G. Souliotis, “A low-voltage, low-power 2.5 GHz ring oscillator with process and temperature compensation,” J. Low Power Electron. Appl., vol. 15, no. 3, Art. no. 52, Sep. 2025.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[14] M. Sivasakthi and P. Radhika, “Design and analysis of PVT tolerant hybrid current starved ring VCO with bulk driven keeper technique at 45 nm CMOS technology for the PLL application,” AEU – Int. J. Electron. Commun., vol. 173, Art. no. 154987, Jan. 2024.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[15] S. Madheswaran and R. Panneerselvam, “Design and analysis of 7-stage MOS current mode logic power gated MOSFETs in current starved VCO for the PLL application,” Int. J. Electr. Comput. Eng., vol. 14, no. 2, pp. 1398–1405, Apr. 2024.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  ·  github.com/pocopepe/visualizer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344</Words>
  <Application>Microsoft Macintosh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2</cp:revision>
  <dcterms:created xsi:type="dcterms:W3CDTF">2026-08-27T09:57:11Z</dcterms:created>
  <dcterms:modified xsi:type="dcterms:W3CDTF">2026-09-23T05:52:39Z</dcterms:modified>
</cp:coreProperties>
</file>