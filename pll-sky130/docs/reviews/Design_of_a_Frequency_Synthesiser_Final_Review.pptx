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85" r:id="rId34"/>
    <p:sldId id="260" r:id="rId4"/>
    <p:sldId id="268" r:id="rId17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10" Type="http://schemas.openxmlformats.org/officeDocument/2006/relationships/slide" Target="slides/slide26.xml"/><Relationship Id="rId11" Type="http://schemas.openxmlformats.org/officeDocument/2006/relationships/slide" Target="slides/slide2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sf</c:v>
                </c:pt>
              </c:strCache>
            </c:strRef>
          </c:tx>
          <c:spPr>
            <a:ln w="28575">
              <a:solidFill>
                <a:srgbClr val="2A9D8F"/>
              </a:solidFill>
            </a:ln>
          </c:spPr>
          <c:marker>
            <c:symbol val="circle"/>
            <c:size val="7"/>
            <c:spPr>
              <a:solidFill>
                <a:srgbClr val="2A9D8F"/>
              </a:solidFill>
              <a:ln>
                <a:solidFill>
                  <a:srgbClr val="2A9D8F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0.65</c:v>
                </c:pt>
                <c:pt idx="1">
                  <c:v>0.7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  <c:pt idx="5">
                  <c:v>1.1</c:v>
                </c:pt>
                <c:pt idx="6">
                  <c:v>1.25</c:v>
                </c:pt>
                <c:pt idx="7">
                  <c:v>1.4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34.37676292050204</c:v>
                </c:pt>
                <c:pt idx="1">
                  <c:v>68.59807599650664</c:v>
                </c:pt>
                <c:pt idx="2">
                  <c:v>165.03037521349088</c:v>
                </c:pt>
                <c:pt idx="3">
                  <c:v>246.19083325123026</c:v>
                </c:pt>
                <c:pt idx="4">
                  <c:v>269.1682109933463</c:v>
                </c:pt>
                <c:pt idx="5">
                  <c:v>300.2874356706069</c:v>
                </c:pt>
                <c:pt idx="6">
                  <c:v>313.7819192740326</c:v>
                </c:pt>
                <c:pt idx="7">
                  <c:v>321.5884790215462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ff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ymbol val="circle"/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xVal>
            <c:numRef>
              <c:f>Sheet1!$A$12:$A$19</c:f>
              <c:numCache>
                <c:formatCode>General</c:formatCode>
                <c:ptCount val="8"/>
                <c:pt idx="0">
                  <c:v>0.65</c:v>
                </c:pt>
                <c:pt idx="1">
                  <c:v>0.7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  <c:pt idx="5">
                  <c:v>1.1</c:v>
                </c:pt>
                <c:pt idx="6">
                  <c:v>1.25</c:v>
                </c:pt>
                <c:pt idx="7">
                  <c:v>1.4</c:v>
                </c:pt>
              </c:numCache>
            </c:numRef>
          </c:xVal>
          <c:yVal>
            <c:numRef>
              <c:f>Sheet1!$B$12:$B$19</c:f>
              <c:numCache>
                <c:formatCode>General</c:formatCode>
                <c:ptCount val="8"/>
                <c:pt idx="0">
                  <c:v>29.859665195378593</c:v>
                </c:pt>
                <c:pt idx="1">
                  <c:v>63.42127905224141</c:v>
                </c:pt>
                <c:pt idx="2">
                  <c:v>168.0955988271967</c:v>
                </c:pt>
                <c:pt idx="3">
                  <c:v>279.17829149116267</c:v>
                </c:pt>
                <c:pt idx="4">
                  <c:v>320.427872891103</c:v>
                </c:pt>
                <c:pt idx="5">
                  <c:v>380.11176806950806</c:v>
                </c:pt>
                <c:pt idx="6">
                  <c:v>403.8636321660541</c:v>
                </c:pt>
                <c:pt idx="7">
                  <c:v>417.19754569806236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</c:f>
              <c:strCache>
                <c:ptCount val="1"/>
                <c:pt idx="0">
                  <c:v>tt</c:v>
                </c:pt>
              </c:strCache>
            </c:strRef>
          </c:tx>
          <c:spPr>
            <a:ln w="28575">
              <a:solidFill>
                <a:srgbClr val="1D2F82"/>
              </a:solidFill>
            </a:ln>
          </c:spPr>
          <c:marker>
            <c:symbol val="circle"/>
            <c:size val="7"/>
            <c:spPr>
              <a:solidFill>
                <a:srgbClr val="1D2F82"/>
              </a:solidFill>
              <a:ln>
                <a:solidFill>
                  <a:srgbClr val="1D2F82"/>
                </a:solidFill>
              </a:ln>
            </c:spPr>
          </c:marker>
          <c:xVal>
            <c:numRef>
              <c:f>Sheet1!$A$22:$A$29</c:f>
              <c:numCache>
                <c:formatCode>General</c:formatCode>
                <c:ptCount val="8"/>
                <c:pt idx="0">
                  <c:v>0.65</c:v>
                </c:pt>
                <c:pt idx="1">
                  <c:v>0.7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  <c:pt idx="5">
                  <c:v>1.1</c:v>
                </c:pt>
                <c:pt idx="6">
                  <c:v>1.25</c:v>
                </c:pt>
                <c:pt idx="7">
                  <c:v>1.4</c:v>
                </c:pt>
              </c:numCache>
            </c:numRef>
          </c:xVal>
          <c:yVal>
            <c:numRef>
              <c:f>Sheet1!$B$22:$B$29</c:f>
              <c:numCache>
                <c:formatCode>General</c:formatCode>
                <c:ptCount val="8"/>
                <c:pt idx="0">
                  <c:v>17.97523858881517</c:v>
                </c:pt>
                <c:pt idx="1">
                  <c:v>41.29365814549883</c:v>
                </c:pt>
                <c:pt idx="2">
                  <c:v>125.17097794883082</c:v>
                </c:pt>
                <c:pt idx="3">
                  <c:v>226.20606557966028</c:v>
                </c:pt>
                <c:pt idx="4">
                  <c:v>266.06003891707405</c:v>
                </c:pt>
                <c:pt idx="5">
                  <c:v>324.07402013696503</c:v>
                </c:pt>
                <c:pt idx="6">
                  <c:v>345.9747140497488</c:v>
                </c:pt>
                <c:pt idx="7">
                  <c:v>358.05320266552974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Sheet1!$B$31</c:f>
              <c:strCache>
                <c:ptCount val="1"/>
                <c:pt idx="0">
                  <c:v>ss</c:v>
                </c:pt>
              </c:strCache>
            </c:strRef>
          </c:tx>
          <c:spPr>
            <a:ln w="28575">
              <a:solidFill>
                <a:srgbClr val="6A3D9A"/>
              </a:solidFill>
            </a:ln>
          </c:spPr>
          <c:marker>
            <c:symbol val="circle"/>
            <c:size val="7"/>
            <c:spPr>
              <a:solidFill>
                <a:srgbClr val="6A3D9A"/>
              </a:solidFill>
              <a:ln>
                <a:solidFill>
                  <a:srgbClr val="6A3D9A"/>
                </a:solidFill>
              </a:ln>
            </c:spPr>
          </c:marker>
          <c:xVal>
            <c:numRef>
              <c:f>Sheet1!$A$32:$A$39</c:f>
              <c:numCache>
                <c:formatCode>General</c:formatCode>
                <c:ptCount val="8"/>
                <c:pt idx="0">
                  <c:v>0.65</c:v>
                </c:pt>
                <c:pt idx="1">
                  <c:v>0.7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  <c:pt idx="5">
                  <c:v>1.1</c:v>
                </c:pt>
                <c:pt idx="6">
                  <c:v>1.25</c:v>
                </c:pt>
                <c:pt idx="7">
                  <c:v>1.4</c:v>
                </c:pt>
              </c:numCache>
            </c:numRef>
          </c:xVal>
          <c:yVal>
            <c:numRef>
              <c:f>Sheet1!$B$32:$B$39</c:f>
              <c:numCache>
                <c:formatCode>General</c:formatCode>
                <c:ptCount val="8"/>
                <c:pt idx="0">
                  <c:v>10.469256476976867</c:v>
                </c:pt>
                <c:pt idx="1">
                  <c:v>25.726067115338157</c:v>
                </c:pt>
                <c:pt idx="2">
                  <c:v>89.5449041052364</c:v>
                </c:pt>
                <c:pt idx="3">
                  <c:v>177.99271588431074</c:v>
                </c:pt>
                <c:pt idx="4">
                  <c:v>215.34453905211583</c:v>
                </c:pt>
                <c:pt idx="5">
                  <c:v>270.1737330398915</c:v>
                </c:pt>
                <c:pt idx="6">
                  <c:v>289.6512684880725</c:v>
                </c:pt>
                <c:pt idx="7">
                  <c:v>300.17031881716355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Sheet1!$B$41</c:f>
              <c:strCache>
                <c:ptCount val="1"/>
                <c:pt idx="0">
                  <c:v>fs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7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Sheet1!$A$42:$A$49</c:f>
              <c:numCache>
                <c:formatCode>General</c:formatCode>
                <c:ptCount val="8"/>
                <c:pt idx="0">
                  <c:v>0.65</c:v>
                </c:pt>
                <c:pt idx="1">
                  <c:v>0.7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  <c:pt idx="5">
                  <c:v>1.1</c:v>
                </c:pt>
                <c:pt idx="6">
                  <c:v>1.25</c:v>
                </c:pt>
                <c:pt idx="7">
                  <c:v>1.4</c:v>
                </c:pt>
              </c:numCache>
            </c:numRef>
          </c:xVal>
          <c:yVal>
            <c:numRef>
              <c:f>Sheet1!$B$42:$B$49</c:f>
              <c:numCache>
                <c:formatCode>General</c:formatCode>
                <c:ptCount val="8"/>
                <c:pt idx="0">
                  <c:v>8.403098648691245</c:v>
                </c:pt>
                <c:pt idx="1">
                  <c:v>21.970484910508922</c:v>
                </c:pt>
                <c:pt idx="2">
                  <c:v>84.98986741970066</c:v>
                </c:pt>
                <c:pt idx="3">
                  <c:v>183.65964427912397</c:v>
                </c:pt>
                <c:pt idx="4">
                  <c:v>233.75483291655016</c:v>
                </c:pt>
                <c:pt idx="5">
                  <c:v>328.27071051679866</c:v>
                </c:pt>
                <c:pt idx="6">
                  <c:v>362.2761206039861</c:v>
                </c:pt>
                <c:pt idx="7">
                  <c:v>379.8136923772394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4"/>
          <c:min val="0.6"/>
        </c:scaling>
        <c:delete val="0"/>
        <c:axPos val="b"/>
        <c:title>
          <c:tx>
            <c:rich>
              <a:bodyPr/>
              <a:lstStyle/>
              <a:p>
                <a:r>
                  <a:rPr sz="1100"/>
                  <a:t>Control voltage V_ctrl (V)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9643912"/>
        <c:crosses val="min"/>
        <c:crossBetween val="midCat"/>
      </c:valAx>
      <c:valAx>
        <c:axId val="-2129643912"/>
        <c:scaling>
          <c:orientation val="minMax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VCO frequency (MHz)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8940872"/>
        <c:crosses val="min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sf (112 ppm/C)</c:v>
                </c:pt>
              </c:strCache>
            </c:strRef>
          </c:tx>
          <c:spPr>
            <a:ln w="28575">
              <a:solidFill>
                <a:srgbClr val="2A9D8F"/>
              </a:solidFill>
            </a:ln>
          </c:spPr>
          <c:marker>
            <c:symbol val="circle"/>
            <c:size val="7"/>
            <c:spPr>
              <a:solidFill>
                <a:srgbClr val="2A9D8F"/>
              </a:solidFill>
              <a:ln>
                <a:solidFill>
                  <a:srgbClr val="2A9D8F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-40</c:v>
                </c:pt>
                <c:pt idx="1">
                  <c:v>-20</c:v>
                </c:pt>
                <c:pt idx="2">
                  <c:v>0</c:v>
                </c:pt>
                <c:pt idx="3">
                  <c:v>27</c:v>
                </c:pt>
                <c:pt idx="4">
                  <c:v>50</c:v>
                </c:pt>
                <c:pt idx="5">
                  <c:v>85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-1.3317488063039367</c:v>
                </c:pt>
                <c:pt idx="1">
                  <c:v>-0.7954587913215088</c:v>
                </c:pt>
                <c:pt idx="2">
                  <c:v>-0.3781054397250372</c:v>
                </c:pt>
                <c:pt idx="3">
                  <c:v>0.0</c:v>
                </c:pt>
                <c:pt idx="4">
                  <c:v>0.1529940339836034</c:v>
                </c:pt>
                <c:pt idx="5">
                  <c:v>0.0708910907180516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ff (332 ppm/C)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ymbol val="circle"/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xVal>
            <c:numRef>
              <c:f>Sheet1!$A$10:$A$15</c:f>
              <c:numCache>
                <c:formatCode>General</c:formatCode>
                <c:ptCount val="6"/>
                <c:pt idx="0">
                  <c:v>-40</c:v>
                </c:pt>
                <c:pt idx="1">
                  <c:v>-20</c:v>
                </c:pt>
                <c:pt idx="2">
                  <c:v>0</c:v>
                </c:pt>
                <c:pt idx="3">
                  <c:v>27</c:v>
                </c:pt>
                <c:pt idx="4">
                  <c:v>50</c:v>
                </c:pt>
                <c:pt idx="5">
                  <c:v>85</c:v>
                </c:pt>
              </c:numCache>
            </c:numRef>
          </c:xVal>
          <c:yVal>
            <c:numRef>
              <c:f>Sheet1!$B$10:$B$15</c:f>
              <c:numCache>
                <c:formatCode>General</c:formatCode>
                <c:ptCount val="6"/>
                <c:pt idx="0">
                  <c:v>-3.261044674541243</c:v>
                </c:pt>
                <c:pt idx="1">
                  <c:v>-1.989653629129203</c:v>
                </c:pt>
                <c:pt idx="2">
                  <c:v>-0.9839775891889329</c:v>
                </c:pt>
                <c:pt idx="3">
                  <c:v>0.0</c:v>
                </c:pt>
                <c:pt idx="4">
                  <c:v>0.5376056333499922</c:v>
                </c:pt>
                <c:pt idx="5">
                  <c:v>0.8896519593697818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Sheet1!$B$17</c:f>
              <c:strCache>
                <c:ptCount val="1"/>
                <c:pt idx="0">
                  <c:v>tt (681 ppm/C)</c:v>
                </c:pt>
              </c:strCache>
            </c:strRef>
          </c:tx>
          <c:spPr>
            <a:ln w="28575">
              <a:solidFill>
                <a:srgbClr val="1D2F82"/>
              </a:solidFill>
            </a:ln>
          </c:spPr>
          <c:marker>
            <c:symbol val="circle"/>
            <c:size val="7"/>
            <c:spPr>
              <a:solidFill>
                <a:srgbClr val="1D2F82"/>
              </a:solidFill>
              <a:ln>
                <a:solidFill>
                  <a:srgbClr val="1D2F82"/>
                </a:solidFill>
              </a:ln>
            </c:spPr>
          </c:marker>
          <c:xVal>
            <c:numRef>
              <c:f>Sheet1!$A$18:$A$23</c:f>
              <c:numCache>
                <c:formatCode>General</c:formatCode>
                <c:ptCount val="6"/>
                <c:pt idx="0">
                  <c:v>-40</c:v>
                </c:pt>
                <c:pt idx="1">
                  <c:v>-20</c:v>
                </c:pt>
                <c:pt idx="2">
                  <c:v>0</c:v>
                </c:pt>
                <c:pt idx="3">
                  <c:v>27</c:v>
                </c:pt>
                <c:pt idx="4">
                  <c:v>50</c:v>
                </c:pt>
                <c:pt idx="5">
                  <c:v>85</c:v>
                </c:pt>
              </c:numCache>
            </c:numRef>
          </c:xVal>
          <c:yVal>
            <c:numRef>
              <c:f>Sheet1!$B$18:$B$23</c:f>
              <c:numCache>
                <c:formatCode>General</c:formatCode>
                <c:ptCount val="6"/>
                <c:pt idx="0">
                  <c:v>-6.043332522146776</c:v>
                </c:pt>
                <c:pt idx="1">
                  <c:v>-3.7977338156333045</c:v>
                </c:pt>
                <c:pt idx="2">
                  <c:v>-1.95020700554765</c:v>
                </c:pt>
                <c:pt idx="3">
                  <c:v>0.0</c:v>
                </c:pt>
                <c:pt idx="4">
                  <c:v>1.2347776416619354</c:v>
                </c:pt>
                <c:pt idx="5">
                  <c:v>2.4664362946123957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ss (1070 ppm/C)</c:v>
                </c:pt>
              </c:strCache>
            </c:strRef>
          </c:tx>
          <c:spPr>
            <a:ln w="28575">
              <a:solidFill>
                <a:srgbClr val="6A3D9A"/>
              </a:solidFill>
            </a:ln>
          </c:spPr>
          <c:marker>
            <c:symbol val="circle"/>
            <c:size val="7"/>
            <c:spPr>
              <a:solidFill>
                <a:srgbClr val="6A3D9A"/>
              </a:solidFill>
              <a:ln>
                <a:solidFill>
                  <a:srgbClr val="6A3D9A"/>
                </a:solidFill>
              </a:ln>
            </c:spPr>
          </c:marker>
          <c:xVal>
            <c:numRef>
              <c:f>Sheet1!$A$26:$A$31</c:f>
              <c:numCache>
                <c:formatCode>General</c:formatCode>
                <c:ptCount val="6"/>
                <c:pt idx="0">
                  <c:v>-40</c:v>
                </c:pt>
                <c:pt idx="1">
                  <c:v>-20</c:v>
                </c:pt>
                <c:pt idx="2">
                  <c:v>0</c:v>
                </c:pt>
                <c:pt idx="3">
                  <c:v>27</c:v>
                </c:pt>
                <c:pt idx="4">
                  <c:v>50</c:v>
                </c:pt>
                <c:pt idx="5">
                  <c:v>85</c:v>
                </c:pt>
              </c:numCache>
            </c:numRef>
          </c:xVal>
          <c:yVal>
            <c:numRef>
              <c:f>Sheet1!$B$26:$B$31</c:f>
              <c:numCache>
                <c:formatCode>General</c:formatCode>
                <c:ptCount val="6"/>
                <c:pt idx="0">
                  <c:v>-9.207979621952147</c:v>
                </c:pt>
                <c:pt idx="1">
                  <c:v>-5.846224823425786</c:v>
                </c:pt>
                <c:pt idx="2">
                  <c:v>-3.037509644770194</c:v>
                </c:pt>
                <c:pt idx="3">
                  <c:v>0.0</c:v>
                </c:pt>
                <c:pt idx="4">
                  <c:v>1.9985035408051472</c:v>
                </c:pt>
                <c:pt idx="5">
                  <c:v>4.163791688551307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Sheet1!$B$33</c:f>
              <c:strCache>
                <c:ptCount val="1"/>
                <c:pt idx="0">
                  <c:v>fs (1399 ppm/C)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7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Sheet1!$A$34:$A$39</c:f>
              <c:numCache>
                <c:formatCode>General</c:formatCode>
                <c:ptCount val="6"/>
                <c:pt idx="0">
                  <c:v>-40</c:v>
                </c:pt>
                <c:pt idx="1">
                  <c:v>-20</c:v>
                </c:pt>
                <c:pt idx="2">
                  <c:v>0</c:v>
                </c:pt>
                <c:pt idx="3">
                  <c:v>27</c:v>
                </c:pt>
                <c:pt idx="4">
                  <c:v>50</c:v>
                </c:pt>
                <c:pt idx="5">
                  <c:v>85</c:v>
                </c:pt>
              </c:numCache>
            </c:numRef>
          </c:xVal>
          <c:yVal>
            <c:numRef>
              <c:f>Sheet1!$B$34:$B$39</c:f>
              <c:numCache>
                <c:formatCode>General</c:formatCode>
                <c:ptCount val="6"/>
                <c:pt idx="0">
                  <c:v>-11.898463053315037</c:v>
                </c:pt>
                <c:pt idx="1">
                  <c:v>-7.591215064113989</c:v>
                </c:pt>
                <c:pt idx="2">
                  <c:v>-3.9608193198612676</c:v>
                </c:pt>
                <c:pt idx="3">
                  <c:v>0.0</c:v>
                </c:pt>
                <c:pt idx="4">
                  <c:v>2.644765882277591</c:v>
                </c:pt>
                <c:pt idx="5">
                  <c:v>5.588604932207911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Sheet1!$B$41</c:f>
              <c:strCache>
                <c:ptCount val="1"/>
                <c:pt idx="0">
                  <c:v>+/-0.3 % spec</c:v>
                </c:pt>
              </c:strCache>
            </c:strRef>
          </c:tx>
          <c:spPr>
            <a:ln w="19050">
              <a:solidFill>
                <a:srgbClr val="2E8B57"/>
              </a:solidFill>
              <a:prstDash val="dash"/>
            </a:ln>
          </c:spPr>
          <c:marker>
            <c:symbol val="none"/>
          </c:marker>
          <c:xVal>
            <c:numRef>
              <c:f>Sheet1!$A$42:$A$43</c:f>
              <c:numCache>
                <c:formatCode>General</c:formatCode>
                <c:ptCount val="2"/>
                <c:pt idx="0">
                  <c:v>-40</c:v>
                </c:pt>
                <c:pt idx="1">
                  <c:v>85</c:v>
                </c:pt>
              </c:numCache>
            </c:numRef>
          </c:xVal>
          <c:yVal>
            <c:numRef>
              <c:f>Sheet1!$B$42:$B$43</c:f>
              <c:numCache>
                <c:formatCode>General</c:formatCode>
                <c:ptCount val="2"/>
                <c:pt idx="0">
                  <c:v>0.3</c:v>
                </c:pt>
                <c:pt idx="1">
                  <c:v>0.3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Sheet1!$B$45</c:f>
              <c:strCache>
                <c:ptCount val="1"/>
                <c:pt idx="0">
                  <c:v> </c:v>
                </c:pt>
              </c:strCache>
            </c:strRef>
          </c:tx>
          <c:spPr>
            <a:ln w="19050">
              <a:solidFill>
                <a:srgbClr val="2E8B57"/>
              </a:solidFill>
              <a:prstDash val="dash"/>
            </a:ln>
          </c:spPr>
          <c:marker>
            <c:symbol val="none"/>
          </c:marker>
          <c:xVal>
            <c:numRef>
              <c:f>Sheet1!$A$46:$A$47</c:f>
              <c:numCache>
                <c:formatCode>General</c:formatCode>
                <c:ptCount val="2"/>
                <c:pt idx="0">
                  <c:v>-40</c:v>
                </c:pt>
                <c:pt idx="1">
                  <c:v>85</c:v>
                </c:pt>
              </c:numCache>
            </c:numRef>
          </c:xVal>
          <c:yVal>
            <c:numRef>
              <c:f>Sheet1!$B$46:$B$47</c:f>
              <c:numCache>
                <c:formatCode>General</c:formatCode>
                <c:ptCount val="2"/>
                <c:pt idx="0">
                  <c:v>-0.3</c:v>
                </c:pt>
                <c:pt idx="1">
                  <c:v>-0.3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85.0"/>
          <c:min val="-40.0"/>
        </c:scaling>
        <c:delete val="0"/>
        <c:axPos val="b"/>
        <c:title>
          <c:tx>
            <c:rich>
              <a:bodyPr/>
              <a:lstStyle/>
              <a:p>
                <a:r>
                  <a:rPr sz="1100"/>
                  <a:t>Temperature (C)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9643912"/>
        <c:crosses val="min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Delta f vs 27 C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8940872"/>
        <c:crosses val="min"/>
        <c:crossBetween val="midCat"/>
      </c:valAx>
    </c:plotArea>
    <c:legend>
      <c:legendPos val="b"/>
      <c:legendEntry>
        <c:idx val="6"/>
        <c:delete val="1"/>
      </c:legendEntry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|f(85C) - f(-40C)| (MHz)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9AA0A6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1D2F82"/>
              </a:solidFill>
            </c:spPr>
          </c:dPt>
          <c:errBars>
            <c:errDir val="y"/>
            <c:errBarType val="both"/>
            <c:errValType val="cust"/>
            <c:noEndCap val="0"/>
            <c:plus>
              <c:numLit>
                <c:ptCount val="3"/>
                <c:pt idx="0">
                  <c:v>0.9300</c:v>
                </c:pt>
                <c:pt idx="1">
                  <c:v>0.6200</c:v>
                </c:pt>
                <c:pt idx="2">
                  <c:v>0.4300</c:v>
                </c:pt>
              </c:numLit>
            </c:plus>
            <c:minus>
              <c:numLit>
                <c:ptCount val="3"/>
                <c:pt idx="0">
                  <c:v>0.9300</c:v>
                </c:pt>
                <c:pt idx="1">
                  <c:v>0.6200</c:v>
                </c:pt>
                <c:pt idx="2">
                  <c:v>0.4300</c:v>
                </c:pt>
              </c:numLit>
            </c:minus>
            <c:spPr>
              <a:ln w="19050">
                <a:solidFill>
                  <a:srgbClr val="333333"/>
                </a:solidFill>
              </a:ln>
            </c:spPr>
          </c:errBars>
          <c:cat>
            <c:strRef>
              <c:f>Sheet1!$A$2:$A$4</c:f>
              <c:strCache>
                <c:ptCount val="3"/>
                <c:pt idx="0">
                  <c:v>Baseline 20.11</c:v>
                </c:pt>
                <c:pt idx="1">
                  <c:v>1st order 3.25</c:v>
                </c:pt>
                <c:pt idx="2">
                  <c:v>2nd order 2.76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20.11</c:v>
                </c:pt>
                <c:pt idx="1">
                  <c:v>3.25</c:v>
                </c:pt>
                <c:pt idx="2">
                  <c:v>2.76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Mean |drift| (MHz), 95 % CI bars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Coarse start (0.85 V)</c:v>
                </c:pt>
              </c:strCache>
            </c:strRef>
          </c:tx>
          <c:spPr>
            <a:solidFill>
              <a:srgbClr val="1D2F82"/>
            </a:solidFill>
          </c:spPr>
          <c:cat>
            <c:strRef>
              <c:f>Sheet1!$A$2:$A$12</c:f>
              <c:strCache>
                <c:ptCount val="11"/>
                <c:pt idx="0">
                  <c:v>NsPs</c:v>
                </c:pt>
                <c:pt idx="1">
                  <c:v>NsPt</c:v>
                </c:pt>
                <c:pt idx="2">
                  <c:v>NsPf</c:v>
                </c:pt>
                <c:pt idx="3">
                  <c:v>NtPs</c:v>
                </c:pt>
                <c:pt idx="4">
                  <c:v>NtPt</c:v>
                </c:pt>
                <c:pt idx="5">
                  <c:v>NtPf</c:v>
                </c:pt>
                <c:pt idx="6">
                  <c:v>NfPs</c:v>
                </c:pt>
                <c:pt idx="7">
                  <c:v>NfPt</c:v>
                </c:pt>
                <c:pt idx="8">
                  <c:v>NfPf</c:v>
                </c:pt>
                <c:pt idx="9">
                  <c:v>PDK sf</c:v>
                </c:pt>
                <c:pt idx="10">
                  <c:v>PDK fs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966.8</c:v>
                </c:pt>
                <c:pt idx="1">
                  <c:v>645.3</c:v>
                </c:pt>
                <c:pt idx="2">
                  <c:v>572.8</c:v>
                </c:pt>
                <c:pt idx="3">
                  <c:v>677.5</c:v>
                </c:pt>
                <c:pt idx="4">
                  <c:v>503.1</c:v>
                </c:pt>
                <c:pt idx="5">
                  <c:v>177.4</c:v>
                </c:pt>
                <c:pt idx="6">
                  <c:v>386.9</c:v>
                </c:pt>
                <c:pt idx="7">
                  <c:v>279.1</c:v>
                </c:pt>
                <c:pt idx="8">
                  <c:v>241.1</c:v>
                </c:pt>
                <c:pt idx="9">
                  <c:v>419.3</c:v>
                </c:pt>
                <c:pt idx="10">
                  <c:v>575.5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Cold start (0 V, boosted CP)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Sheet1!$A$2:$A$12</c:f>
              <c:strCache>
                <c:ptCount val="11"/>
                <c:pt idx="0">
                  <c:v>NsPs</c:v>
                </c:pt>
                <c:pt idx="1">
                  <c:v>NsPt</c:v>
                </c:pt>
                <c:pt idx="2">
                  <c:v>NsPf</c:v>
                </c:pt>
                <c:pt idx="3">
                  <c:v>NtPs</c:v>
                </c:pt>
                <c:pt idx="4">
                  <c:v>NtPt</c:v>
                </c:pt>
                <c:pt idx="5">
                  <c:v>NtPf</c:v>
                </c:pt>
                <c:pt idx="6">
                  <c:v>NfPs</c:v>
                </c:pt>
                <c:pt idx="7">
                  <c:v>NfPt</c:v>
                </c:pt>
                <c:pt idx="8">
                  <c:v>NfPf</c:v>
                </c:pt>
                <c:pt idx="9">
                  <c:v>PDK sf</c:v>
                </c:pt>
                <c:pt idx="10">
                  <c:v>PDK fs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1675.0</c:v>
                </c:pt>
                <c:pt idx="1">
                  <c:v>1531.2</c:v>
                </c:pt>
                <c:pt idx="2">
                  <c:v>1354.4</c:v>
                </c:pt>
                <c:pt idx="3">
                  <c:v>1537.0</c:v>
                </c:pt>
                <c:pt idx="4">
                  <c:v>1351.4</c:v>
                </c:pt>
                <c:pt idx="5">
                  <c:v>1318.1</c:v>
                </c:pt>
                <c:pt idx="6">
                  <c:v>1390.8</c:v>
                </c:pt>
                <c:pt idx="7">
                  <c:v>1315.8</c:v>
                </c:pt>
                <c:pt idx="8">
                  <c:v>1282.5</c:v>
                </c:pt>
                <c:pt idx="9">
                  <c:v>1387.8</c:v>
                </c:pt>
                <c:pt idx="10">
                  <c:v>1355.1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Lock time (ns), spec &lt; 2000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chart" Target="../charts/char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Temperature-Compensated PLL Frequency Synthesiser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Aaryan Dogra (23BEC1032)  ·  Yugeshwaran (23BEC1404)  ·  Viju Sanjai (23BEC1306)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B. Bindu, School of Electronics Engineering (SENSE)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(Review-III)  ·  28.10.2026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5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"/>
                <a:gridCol w="1741017"/>
                <a:gridCol w="2611526"/>
                <a:gridCol w="2611526"/>
                <a:gridCol w="3482035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G. Souliotis et al., 2022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Temperature compensated ring oscillator based VCO, AEU Int. J. Electron. Commun.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PTAT current compensation of a ring VCO inside a PLL; 180nm, 480MHz, fabricated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Closest topology benchmark: -1.5%/+0.4% over -40-&gt;120C, measured. First-order only; different node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C. Stancu et al., 2023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Temp. and power-supply compensated CMOS clock circuit based on ring osc., Electronics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 + supply compensated 50MHz ring-oscillator clock; simulation only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1.6% temperature error pre-layout. A clock circuit, never closed into a PLL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Z. Geng et al., 2018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Low power fast locking PLL freq. synthesizer with temp. compensation, EAME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Freq. presetting + dynamic loop BW + static/dynamic temp. comp.; 180nm, 2.1-2.6GHz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Lock &lt;2us over 0-80C, -117dBc/Hz@1MHz, 9mW. Stability claim is the locked output, set by the crystal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Y. You et al., 2014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12GHz 67% tuning, 0.37ps RJrms PLL, LC-VCO temp. comp., 0.13um CMOS, IEEE RFIC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LC-VCO PLL for serial links; comp. scheme preserves tuning range; 5.6-13.4GHz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Stays locked -40-&gt;85C. Needs inductor models our process supports poorly; not portable to a ring VCO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S. Sinha, 2002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Design of an integrated CMOS PLL frequency synthesizer, IEEE MELECON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Dual-loop CP-PLL, 0.35um, 2.4-2.5GHz, 1MHz steps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-82dBc/Hz@10kHz. Architectural reference for our loop; no temperature compensation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E. M. V. Freitas et al., 2025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Using open source EDA tools in ASICs for HEP: a mixed comparison, JINST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Open-source vs commercial flows on IHP 130nm blocks incl. a current-starved ring VCO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Digital QoR quantified (+53% area, +118% power); analog VCO comparison qualitative, open-loop, no MC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M. Thiriloganathan et al., 2026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2.4GHz LC-VCO fractional-N PLL, open-source, 130nm BiCMOS, SMACD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Fully open-source flow (Xschem/ngspice/KLayout/OpenEMS), EM-modelled inductor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-100.8dBc/Hz@1MHz. Closes a loop open-source, but no temp. compensation, no PVT/Monte Carlo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R. N. S. Raphael et al., 2019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PLL-based frequency synthesizer for digital systems driving, BTSym'18 (Springer)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3rd-order CP-PLL for clock generation, integer-N (N=8-16), VCO input-cap-aware LF model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Settling &lt;2us. Same loop class as ours; no temperature compensation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Detailed Literature Review (contd.)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58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"/>
                <a:gridCol w="1741017"/>
                <a:gridCol w="2611526"/>
                <a:gridCol w="2611526"/>
                <a:gridCol w="3482035"/>
              </a:tblGrid>
              <a:tr h="537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Title / Source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 / Approach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Findings &amp; Research Gap</a:t>
                      </a:r>
                    </a:p>
                  </a:txBody>
                  <a:tcPr marL="45720" marR="45720" marT="18000" marB="18000">
                    <a:solidFill>
                      <a:srgbClr val="1D2F82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Y. Li, K. Du, J. Zhang, 2022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Design of ring oscillator with temperature compensation effect, Int. J. RF Microw. CAE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Positive-TC supply voltage on a 31-stage ring, 0.18um; 33kHz sleep timer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120 ppm/C (1.6%) over -40-&gt;80C. Single linear coefficient; kHz timer, not a PLL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H. H. Hammam et al., 2022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An ultra-low-power process-and-temperature compensated ring oscillator, IEEE ICEEE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3-stage current-starved ring, 130nm, process + temperature compensation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Up to 90% less variation vs. plain current-starved ring, 346nW. Standalone oscillator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S. Zhang et al., 2016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Temperature compensation technique for ring oscillators with tail current, Electron. Lett.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Tail current = constant source + PTAT current, first-order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Foundational first-order technique; no numbers reported in abstract; not closed-loop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M. Ortner, M. Punzenberger, 2017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Oscillators using quadratic temperature compensation, US Pat. 9,748,962 B2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Linear + quadratic temperature term for a VCO, -40-&gt;85C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Generic 2nd-order compensation is patented -- narrows our claim to ring-VCO + closed PLL + open PDK + stats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D. Patrinos, G. Souliotis, 2025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Low-voltage, low-power 2.5GHz ring oscillator with process &amp; temp. comp., JLPEA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PTAT current + process-corner detection/tuning; 22nm, 0.8V; post-layout sim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Drift 23.9%-&gt;5.4% (tt) and 47.3%-&gt;7.2% (PVT). Corner-aware like our C(corner); not in a PLL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M. Sivasakthi, P. Radhika, 2024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PVT tolerant hybrid current starved ring VCO, bulk-driven keeper, 45nm, AEU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Two current-starved ring VCOs; Cadence GPDK45; corner + Monte Carlo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6.97GHz, -121.5dBc/Hz@1MHz. PVT tolerance of the VCO itself, no compensation network or loop</a:t>
                      </a:r>
                    </a:p>
                  </a:txBody>
                  <a:tcPr marL="45720" marR="45720" marT="9000" marB="9000">
                    <a:solidFill>
                      <a:srgbClr val="FFFFFF"/>
                    </a:solidFill>
                  </a:tcPr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S. Madheswaran, R. Panneerselvam, 2024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7-stage MCML power-gated current starved VCO for PLL, IJECE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MOS current-mode logic delay cells with power gating, 45nm, simulation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Calibri"/>
                        </a:rPr>
                        <a:t>3.06GHz, -125.9dBc/Hz. Same device class as ours; no closed-loop temperature characterisation</a:t>
                      </a:r>
                    </a:p>
                  </a:txBody>
                  <a:tcPr marL="45720" marR="45720" marT="9000" marB="9000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50000"/>
            <a:ext cx="108813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1100" b="0">
                <a:solidFill>
                  <a:srgbClr val="000000"/>
                </a:solidFill>
                <a:latin typeface="Calibri"/>
              </a:rPr>
              <a:t>Research gap (from all 15): no reported work combines a compensated ring VCO inside a closed loop, characterised across process corners with Monte Carlo rigor -- that gap is what this project fills.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[1] G. Souliotis, E. Keramida, F. Plessas, R. Malatesta, and S. Vlassis, “Temperature compensated ring oscillator based VCO,” AEU – Int. J. Electron. Commun., vol. 149, Art. no. 154195, May 2022.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[2] C. Stancu, A. Neacsu, O. Profirescu, D. Dobrescu, and L. Dobrescu, “Temperature and power supply compensated CMOS clock circuit based on ring oscillator,” Electronics, vol. 12, no. 3, Art. no. 507, Jan. 2023.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[3] Z. Geng, X. Ma, and Z. Li, “A low power fast locking PLL frequency synthesizer with temperature compensation,” in Proc. 3rd Int. Conf. EAME, Atlantis Press, Jun. 2018, pp. 281–285.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[4] Y. You, D. Huang, J. Chen, and S. Chakraborty, “A 12GHz 67% tuning range 0.37ps RJrms PLL with LC-VCO temperature compensation scheme in 0.13µm CMOS,” in Proc. IEEE RFIC, Tampa, FL, USA, Jun. 2014, pp. 101–104.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[5] S. Sinha, “Design of an integrated CMOS PLL frequency synthesizer,” in Proc. 11th IEEE MELECON, Cairo, Egypt, 2002, pp. 220–224.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[6] É. M. V. Freitas et al., “Using open source EDA tools in ASICs for HEP: A mixed comparison,” J. Instrum., vol. 20, no. 12, Art. no. P12022, Dec. 2025.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[7] M. Thiriloganathan et al., “A 2.4 GHz LC-VCO fractional-N phase locked loop open-source design in 130-nm BiCMOS,” in Proc. 22nd Int. Conf. SMACD, 2026, arXiv:2607.08852.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[8] R. N. S. Raphael, A. M. Pinto, L. T. Manera, and S. Finco, “Phase-locked loop (PLL)-based frequency synthesizer for digital systems driving,” in Proc. BTSym’18, SIST vol. 140, Springer, 2019, pp. 395–406.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[9] Y. Li, K. Du, and J. Zhang, “Design of ring oscillator with temperature compensation effect,” Int. J. RF Microw. Comput.-Aided Eng., vol. 32, no. 11, Art. no. e23374, Nov. 2022.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[10] H. H. Hammam, K. M. Hassan, and S. A. Ibrahim, “An ultra-low-power process-and-temperature compensated ring oscillator,” in Proc. 9th Int. Conf. ICEEE, Alanya, Turkey, Mar. 2022.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[11] S. Zhang, A. Li, Y. Han, L. Jie, X. Han, and R. C. C. Cheung, “Temperature compensation technique for ring oscillators with tail current,” Electron. Lett., vol. 52, no. 13, pp. 1108–1110, Jun. 2016.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[12] M. Ortner and M. Punzenberger, “Systems and methods for oscillators using quadratic temperature compensation,” U.S. Patent 9 748 962 B2, Aug. 29, 2017.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[13] D. Patrinos and G. Souliotis, “A low-voltage, low-power 2.5 GHz ring oscillator with process and temperature compensation,” J. Low Power Electron. Appl., vol. 15, no. 3, Art. no. 52, Sep. 2025.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[14] M. Sivasakthi and P. Radhika, “Design and analysis of PVT tolerant hybrid current starved ring VCO with bulk driven keeper technique at 45 nm CMOS technology for the PLL application,” AEU – Int. J. Electron. Commun., vol. 173, Art. no. 154987, Jan. 2024.</a:t>
            </a:r>
          </a:p>
          <a:p>
            <a:pPr marL="177800" indent="-177800">
              <a:spcAft>
                <a:spcPts val="800"/>
              </a:spcAft>
              <a:buChar char="•"/>
            </a:pPr>
            <a:r>
              <a:rPr sz="900" b="0">
                <a:solidFill>
                  <a:srgbClr val="000000"/>
                </a:solidFill>
                <a:latin typeface="Calibri"/>
              </a:rPr>
              <a:t>[15] S. Madheswaran and R. Panneerselvam, “Design and analysis of 7-stage MOS current mode logic power gated MOSFETs in current starved VCO for the PLL application,” Int. J. Electr. Comput. Eng., vol. 14, no. 2, pp. 1398–1405, Apr. 2024.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  ·  github.com/pocopepe/visualizer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Problem &amp; Objectives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69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Problem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 ring-VCO drifts with temperature: threshold voltage, mobility and capacitance all shift, so the same control voltage gives a different frequency hot vs cold. Process corners change the size of the drift.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Objectives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Integer-N charge-pump PLL in sky130B, open-source and headless (ngspice 47): REF 28.275 MHz -&gt; PFD -&gt; charge pump -&gt; loop filter -&gt; 5-stage current-starved ring VCO -&gt; /8.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Measure the uncompensated drift on every process corner, design a temperature-compensation, and validate it with Monte Carlo and hypothesis tests.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Close the loop and check lock time across corners and temperature.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00000" y="132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2F82"/>
                </a:solidFill>
                <a:latin typeface="Calibri"/>
              </a:rPr>
              <a:t>226.2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target at V_ctrl = 0.9 V (tt, 27 C) = 8 x 28.275 MHz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250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+/-0.3 %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frequency-drift target over -40 to 85 C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0000" y="368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E07A1F"/>
                </a:solidFill>
                <a:latin typeface="Calibri"/>
              </a:rPr>
              <a:t>&lt; 2 us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lock-time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we need a drift figure measured on the real topology and process, then a correction that is proven, not assumed.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Novelty, Patent and Research Gap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69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What is NOT novel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Generic quadratic (2nd-order) temperature compensation of an oscillator is patented: US 9,748,962 B2 (Ortner and Punzenberger, Infineon, 2017) [12]. We do not claim it.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Current-starved ring VCOs and the charge-pump PLL topology are textbook.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What this project adds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 closed-loop, per-corner, statistically validated study of a compensated ring-VCO PLL on an open PDK (sky130B), with the failures and corrections documented.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Research gap (from 15 IEEE-level references)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No reported work combines a compensated ring VCO inside a closed loop, characterised across process corners with Monte Carlo rigour.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00000" y="1325880"/>
            <a:ext cx="372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2F82"/>
                </a:solidFill>
                <a:latin typeface="Calibri"/>
              </a:rPr>
              <a:t>15 refs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read; closest: Souliotis 2022 [1], Stancu 2023 [2], Geng 2018 [3]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2705880"/>
            <a:ext cx="372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C0392B"/>
                </a:solidFill>
                <a:latin typeface="Calibri"/>
              </a:rPr>
              <a:t>1 patent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narrowed the claim to ring-VCO + closed PLL + open PDK + statistics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0000" y="4085880"/>
            <a:ext cx="372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Open PDK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everything reproducible: ngspice + sky130B, no licensed tools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our contribution is the validated closed-loop study, not the idea of 2nd-order compensation.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Methodology: Review 1 -&gt; Review 2 -&gt; Review 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method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92" y="1325880"/>
            <a:ext cx="6834736" cy="43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characterise, compensate, close the loop, then validate statistically.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System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590" y="1325880"/>
            <a:ext cx="9188340" cy="2999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20 uA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charge pump (behavioural), 5x until first divider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3.6 kOhm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R2 (retuned from 1.7 k); C1 68 pF, C2 6.8 pF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5 stages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current-starved ring VCO, tunes 18 -&gt; 358 MHz</a:t>
            </a:r>
          </a:p>
        </p:txBody>
      </p:sp>
      <p:sp>
        <p:nvSpPr>
          <p:cNvPr id="9" name="Rectangle 8"/>
          <p:cNvSpPr/>
          <p:nvPr/>
        </p:nvSpPr>
        <p:spPr>
          <a:xfrm>
            <a:off x="892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07A1F"/>
                </a:solidFill>
                <a:latin typeface="Calibri"/>
              </a:rPr>
              <a:t>/ 8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divider (3 T flip-flops)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a standard integer-N loop, so every difference we see comes from the VCO and its compensation.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VCO: Schematic &amp; Tuning Curve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97" y="1325880"/>
            <a:ext cx="4269565" cy="3500000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00000" y="1225880"/>
          <a:ext cx="6500000" cy="39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950000"/>
            <a:ext cx="2500000" cy="8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D2F82"/>
                </a:solidFill>
                <a:latin typeface="Calibri"/>
              </a:rPr>
              <a:t>~890 MHz/V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local K_VCO at 0.9 V (tt)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0080" y="4950000"/>
            <a:ext cx="2500000" cy="8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A9D8F"/>
                </a:solidFill>
                <a:latin typeface="Calibri"/>
              </a:rPr>
              <a:t>18 -&gt; 358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over 0.65 -&gt; 1.40 V (tt)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V_ctrl sets the starving current; 0.9 V gives the 226 MHz target. K_VCO is ~890 MHz/V (an earlier 669 was wrong).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Uncompensated Drift: PDK Corners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25880"/>
          <a:ext cx="7200000" cy="44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8100000" y="1325880"/>
            <a:ext cx="340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C0392B"/>
                </a:solidFill>
                <a:latin typeface="Calibri"/>
              </a:rPr>
              <a:t>12.5x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tempco spread, sf 112 to fs 1399 ppm/C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0000" y="2575880"/>
            <a:ext cx="340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2F82"/>
                </a:solidFill>
                <a:latin typeface="Calibri"/>
              </a:rPr>
              <a:t>8.51 %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tt frequency span, -40 to 85 C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0000" y="3825880"/>
            <a:ext cx="340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112 - 1399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ppm/C across the 5 PDK corners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every corner is far outside +/-0.3 % without compensation, and the corners disagree by a factor of 12.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Why the Corner Numbers Looked Out of Range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In review, ff / tt / fs / sf values were not in the ranges they are meant to be. We audited it (ngspice 47, same PDK).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Verdict: the simulations were fine. Three things were wrong in how we expected and described the corners.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1. Labels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In this PDK sf = fast-NMOS / slow-PMOS and fs = slow-NMOS / fast-PMOS (measured). Earlier labels were reversed.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2. Expectation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'Skew corners lie between ss and ff' is false in sky130: its skew corners shift each device further than ss/ff do. At the VCO's low bias this is amplified to about 9 %.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3. Tempco is not bounded by ff and ss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Even in a clean textbook NMOS x PMOS set the tempco extremes sit at the skew corners.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nothing was broken; our expectation of the corner envelope was wrong.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Audit 1: PDK Skew Corners Are Wider Than ss / ff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6199998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142"/>
                <a:gridCol w="885714"/>
                <a:gridCol w="885714"/>
                <a:gridCol w="885714"/>
                <a:gridCol w="88571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Threshold shift vs tt (mV)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ss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PDK sf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PDK fs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NMOS Vth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+25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-25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-36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+36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PMOS |Vth|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+15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-23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+32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-43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25880"/>
            <a:ext cx="6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 extracted device thresholds of the skew corners move further than ss/ff.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At the VCO bias (0.9 V, overdrive only ~0.2 V) an extra ~11 mV of Vth is ~9 % of drive current.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At 1.8 V the same corners agree within 1 %.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00000" y="1325880"/>
            <a:ext cx="422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C0392B"/>
                </a:solidFill>
                <a:latin typeface="Calibri"/>
              </a:rPr>
              <a:t>~9 %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skew corners fall outside the ss-ff envelope at 0.9 V</a:t>
            </a:r>
          </a:p>
        </p:txBody>
      </p:sp>
      <p:sp>
        <p:nvSpPr>
          <p:cNvPr id="8" name="Rectangle 7"/>
          <p:cNvSpPr/>
          <p:nvPr/>
        </p:nvSpPr>
        <p:spPr>
          <a:xfrm>
            <a:off x="7300000" y="2725880"/>
            <a:ext cx="422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E8B57"/>
                </a:solidFill>
                <a:latin typeface="Calibri"/>
              </a:rPr>
              <a:t>&lt; 1 %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outside the envelope at 1.8 V</a:t>
            </a:r>
          </a:p>
        </p:txBody>
      </p:sp>
      <p:sp>
        <p:nvSpPr>
          <p:cNvPr id="9" name="Rectangle 8"/>
          <p:cNvSpPr/>
          <p:nvPr/>
        </p:nvSpPr>
        <p:spPr>
          <a:xfrm>
            <a:off x="7300000" y="4125880"/>
            <a:ext cx="42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2F82"/>
                </a:solidFill>
                <a:latin typeface="Calibri"/>
              </a:rPr>
              <a:t>11 corners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9 textbook + PDK sf + PDK 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the PDK defines its skew corners more aggressively than ss/ff, so they can fall outside them.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Audit 2: Device Current vs the ss-ff Envelope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audit_device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914" y="1275880"/>
            <a:ext cx="7507692" cy="30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25.3 - 51.3 uA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NMOS Id at 0.9 V: fs 25.3, ss 27.9, tt 36.9, ff 47.7, sf 51.3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720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397 - 480 uA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NMOS Id at 1.8 V: skews within 1 % of ss/ff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432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8 - 9 %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skews outside the ss-ff envelope at 0.9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at the low VCO bias, skew corners step outside ss/ff; at full gate drive they do not.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Audit 3: A Textbook 3 x 3 Corner Set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audit_factorial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7933"/>
            <a:ext cx="10881360" cy="28458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8 / 8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ordering checks pass (f rises with N and P strength at 0.9 and 1.4 V; tempco falls with N strength)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720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178.0 - 279.2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f at 0.9 V across the 9 textbook corners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432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07A1F"/>
                </a:solidFill>
                <a:latin typeface="Calibri"/>
              </a:rPr>
              <a:t>306 - 1151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textbook tempco range ppm/C (3.8x) vs PDK 5-corner 112 - 1399 (12.5x)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with N and P varied independently the ordering is textbook-clean; only the PDK skews break the tempco range.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Audit 4: Tempco Follows NMOS Drive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audit_tempco_vs_nm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3" y="1275880"/>
            <a:ext cx="6835714" cy="43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00000" y="132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-0.78 / -1.1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Vth tempco mV/C, NMOS / PMOS (textbook -0.5 to -3)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250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-30 % / +14 %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NMOS Id over 125 C at 1.8 V / 0.9 V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0000" y="368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-816 ppm/C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tt tempco at V_ctrl = 1.4 V (sign flips from +681 at 0.9 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weaker NMOS drive means larger positive tempco; the bias sits below the zero-tempco point.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Tempco Mechanism and Physics Checks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62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Why the frequency rises with temperature at 0.9 V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Vth falls with temperature (about -0.8 mV/C NMOS). With only ~0.2 V overdrive, that gain wins over the mobility loss, so drive current rises.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Which device limits the ring depends on V_ctrl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At 0.9 V the NMOS dominates (36 % spread slow to fast N vs 10 % across P). At 1.4 V the PMOS dominates (26 % vs 9 %).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Other checks that pass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Supply current is proportional to f in every corner (C ~ 27-30 fF per node). Closed-loop lock voltage equals the open-loop value for 226.2 MHz within 0.2 mV at all 11 corners.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00000" y="1325880"/>
            <a:ext cx="44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D2F82"/>
                </a:solidFill>
                <a:latin typeface="Calibri"/>
              </a:rPr>
              <a:t>36 % vs 10 %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0.9 V: NMOS vs PMOS spread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00000" y="2605880"/>
            <a:ext cx="44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A9D8F"/>
                </a:solidFill>
                <a:latin typeface="Calibri"/>
              </a:rPr>
              <a:t>26 % vs 9 %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1.4 V: PMOS vs NMOS spread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0000" y="3885880"/>
            <a:ext cx="44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8B57"/>
                </a:solidFill>
                <a:latin typeface="Calibri"/>
              </a:rPr>
              <a:t>0.2 mV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lock V vs open-loop V, 11 corners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the tempco mechanism is overdrive, not N/P balance; every physics check agrees with theory.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Compensation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184" y="1325880"/>
            <a:ext cx="9225152" cy="3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dV(T)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correction added to V_ctrl before the VCO bias generator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1st order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k1 (T - 27): PTAT/CTAT equivalent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2nd order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adds k2 (T - 27)^2 for the curvature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20080" y="4450000"/>
            <a:ext cx="260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07A1F"/>
                </a:solidFill>
                <a:latin typeface="Calibri"/>
              </a:rPr>
              <a:t>Ideal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behavioural source; transistor-level network is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the correction is a voltage added to V_ctrl: v_eff = v + k1 (T-27) + k2 (T-27)^2.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Compensation Method: Fit, Then Verify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66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scripts/comp_factorial.py, applied per corner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1. Measure f(T, V) at V = 0.85 / 0.9 / 0.95 V for 6 temperatures.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2. Solve the exact voltage shift dV*(T) that restores f(27 C).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3. Least-squares fit k1 (1st order) and k1, k2 (2nd order).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4. Verify by simulating the compensated VCO at the 6 fit temperatures and at 4 held-out temperatures (-30, 10, 40, 70 C).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Why Review 2's numbers changed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Review 2 used a wrong K_VCO (669 instead of ~890 MHz/V) and an analytic first-order guess. The measured fit replaces it: tt span 1.12 % -&gt; 0.20 %.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00000" y="1325880"/>
            <a:ext cx="40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2F82"/>
                </a:solidFill>
                <a:latin typeface="Calibri"/>
              </a:rPr>
              <a:t>-1.543e-4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k1 at tt (V/C)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500000" y="2605880"/>
            <a:ext cx="40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4.18e-7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k2 at tt (V/C^2)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00000" y="3885880"/>
            <a:ext cx="40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E07A1F"/>
                </a:solidFill>
                <a:latin typeface="Calibri"/>
              </a:rPr>
              <a:t>4 held-out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temperatures never used in the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coefficients come from measured data and are checked at temperatures the fit never saw.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Compensation at the Typical (tt) Corner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final_comp_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38380"/>
            <a:ext cx="6900000" cy="4025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00000" y="132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8.51 -&gt; 0.20 %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span: baseline -&gt; 2nd order (1st order 0.67 %)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250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0.16 %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max deviation; +/-0.3 % spec MET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0000" y="368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0.09 %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max deviation at held-out temperatures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at tt the compensated VCO stays within +/-0.16 % over -40 to 85 C.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Compensation on 11 Corners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final_comp_corn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712" y="1275880"/>
            <a:ext cx="7988095" cy="30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8 / 11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corners meet +/-0.3 % (7 of 9 textbook)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720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31 - 44x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compensation ratio (PDK sf 15.9x)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432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0.03 - 0.25 %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held-out max deviation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8 of 11 corners meet the spec; the slow-NMOS corners are the hardest.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Compensation Results: All 11 Corners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75880"/>
          <a:ext cx="10881356" cy="40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877"/>
                <a:gridCol w="1198793"/>
                <a:gridCol w="1106578"/>
                <a:gridCol w="829934"/>
                <a:gridCol w="829934"/>
                <a:gridCol w="1014364"/>
                <a:gridCol w="1106578"/>
                <a:gridCol w="922149"/>
                <a:gridCol w="922149"/>
              </a:tblGrid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Corner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 0.9 V (MHz)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Base span %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1st %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2nd %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Max dev %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Held-out %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Ratio C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+/-0.3 %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slow / P slow (ss)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178.0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13.37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0.277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0.175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slow / P typ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188.0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13.97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37.2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slow / P fast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195.9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14.38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0.325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0.223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34.3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typ / P slow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211.8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8.10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0.24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0.195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0.109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33.6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typ / P typ (tt)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226.2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8.51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43.2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typ / P fast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238.1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8.79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0.168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0.097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43.7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fast / P slow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242.8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3.82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31.0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fast / P typ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262.7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4.06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0.102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33.3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fast / P fast (ff)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279.2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4.15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0.093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37.0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PDK sf (N fast / P slow)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246.2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1.49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PDK fs (N slow / P fast)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183.7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17.49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0.360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0.251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35.8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20000" marB="20000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5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NOT met: N slow / P typ 0.301 (borderline), N slow / P fast 0.325, PDK fs 0.360. Nominal, ideal source.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Monte Carlo (n = 72 chips, tt): Mean |Drift|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75880"/>
          <a:ext cx="6300000" cy="43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7300000" y="1325880"/>
            <a:ext cx="422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E8B57"/>
                </a:solidFill>
                <a:latin typeface="Calibri"/>
              </a:rPr>
              <a:t>-17.35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baseline -&gt; 2nd order, CI [16.37, 18.34], 72/72 chips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00000" y="2575880"/>
            <a:ext cx="422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-16.86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baseline -&gt; 1st order, CI [15.57, 18.16], 71/72 chips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00000" y="3825880"/>
            <a:ext cx="422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C0392B"/>
                </a:solidFill>
                <a:latin typeface="Calibri"/>
              </a:rPr>
              <a:t>0.49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1st vs 2nd order: CI [-0.26, 1.24], NOT significant (2nd smaller in 40/72)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compensation cuts drift ~7x (72/72 chips), but the 2nd-order term adds no detectable benefit under mismatch.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Monte Carlo: The Mismatch Floor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final_m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260" y="1275880"/>
            <a:ext cx="7625000" cy="30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~3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residual drift (~1.2-1.4 % of 226 MHz)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720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0.2 - 0.7 %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nominal residual without mismatch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432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07A1F"/>
                </a:solidFill>
                <a:latin typeface="Calibri"/>
              </a:rPr>
              <a:t>Per-chip trim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needed to reach +/-0.3 % across chips (future 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transistor mismatch makes each chip drift differently, and one global correction cannot remove it.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Loop Dynamics: Found, Fixed, Verified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6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Found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 Review-1 loop design dropped a 1/(2 pi) factor in omega_n^2, so damping was zeta ~0.33, not the 0.72 claimed. The original loop had not settled at ss/ff/sf/fs within 2 us.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Fixed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R2 retuned 1.7 k -&gt; 3.6 kOhm: zeta ~0.70, phase margin ~65-70 deg (100 x zeta rule, not a Bode plot).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2F82"/>
                </a:solidFill>
                <a:latin typeface="Calibri"/>
              </a:rPr>
              <a:t>Cost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Cold start is slower (tt 839 -&gt; 1351 ns) but in spec; coarse start faster (577 -&gt; 503 ns).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0000" y="1325880"/>
            <a:ext cx="46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2F82"/>
                </a:solidFill>
                <a:latin typeface="Calibri"/>
              </a:rPr>
              <a:t>zeta 0.33 -&gt; 0.70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damping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0000" y="2605880"/>
            <a:ext cx="46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8.6 -&gt; 0.35 mV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V_ctrl ripple at 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0000" y="3885880"/>
            <a:ext cx="4620000" cy="115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E8B57"/>
                </a:solidFill>
                <a:latin typeface="Calibri"/>
              </a:rPr>
              <a:t>0.78 -&gt; 0.008 %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final frequency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we caught a design-equation error ourselves; the retuned loop is well damped and quiet.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Cold-Start Fix: Boosted Charge Pump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551" y="1325880"/>
            <a:ext cx="7378417" cy="2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50000"/>
            <a:ext cx="63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Problem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From 0 V the VCO is in deep subthreshold (0.6 MHz at 0.5 V, 6.5 MHz at 0.6 V vs 226 MHz target), so the divider clock is effectively absent and the pump-up is slow.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D2F82"/>
                </a:solidFill>
                <a:latin typeface="Calibri"/>
              </a:rPr>
              <a:t>Fix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Charge pump runs at 5 x I_cp until the divider's first edge, then drops to 20 uA.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0" y="3900000"/>
            <a:ext cx="215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2F82"/>
                </a:solidFill>
                <a:latin typeface="Calibri"/>
              </a:rPr>
              <a:t>1351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tt lock from 0 V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0000" y="3900000"/>
            <a:ext cx="2020000" cy="12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A9D8F"/>
                </a:solidFill>
                <a:latin typeface="Calibri"/>
              </a:rPr>
              <a:t>503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tt lock from 0.85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the boosted pump removes the dead zone at start-up; lock is inside 2 us.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Cold-Start Traces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final_cold_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510" y="1275880"/>
            <a:ext cx="5642500" cy="30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1283 - 1675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cold-start lock, 11 corners, 27 C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720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&lt;= 0.8 mV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V_ctrl ripple in every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432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226.17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= 8 x f_ref (-0.01 %) in every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from 0 V the control voltage climbs and settles to its corner-specific value.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Lock Time Across 11 Corners (27 C)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75880"/>
          <a:ext cx="7700000" cy="43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8600000" y="1325880"/>
            <a:ext cx="292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177 - 967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coarse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00000" y="2575880"/>
            <a:ext cx="292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07A1F"/>
                </a:solidFill>
                <a:latin typeface="Calibri"/>
              </a:rPr>
              <a:t>1283 - 1675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cold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00000" y="3825880"/>
            <a:ext cx="2920000" cy="11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22 / 22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runs inside 2 us at 27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all 11 corners lock inside 2 us at 27 C; slow-NMOS corners take longest. (Ns = N slow, Pf = P fast, etc.)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Does the Loop Lock at the Right Voltage?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final_vlock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515" y="1275880"/>
            <a:ext cx="4539130" cy="43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00000" y="132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&lt; 0.2 mV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lock V vs open-loop V for 226.2 MHz, 11 corners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250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0.849 - 0.968 V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lock V_ctrl range, ff to ss at 27 C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0000" y="3685880"/>
            <a:ext cx="3720000" cy="105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+11.9 / -7.5 mV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tt lock-V shift at -40 / 85 C = fitted compensation (+12.2 / -7.5)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the PLL absorbs the VCO tempco; at tt this independently confirms the compensation fit.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Temperature: Cold-Start Lock at -40, 27, 85 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final_lock_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635" y="1275880"/>
            <a:ext cx="8006250" cy="30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2083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ss at 85 C: MISSES the 2 us spec by 4 %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720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1319 / 1418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tt at -40 / 85 C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4320" y="4450000"/>
            <a:ext cx="3527120" cy="12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1249 / 1317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ff at -40 / 85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worst case ss / 85 C misses the lock spec slightly; every other case is inside 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Benchmark vs Literature (Honest)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58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643"/>
                <a:gridCol w="2571957"/>
                <a:gridCol w="3363329"/>
                <a:gridCol w="1978429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Process / basis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Residual drift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Lock time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This work, 2nd order (tt, nominal)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sky130, simulation, ideal source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+/-0.16 % max dev (0.20 % span), -40 to 85 C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1351 ns (0 V cold start)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This work, 2nd order (MC n = 72)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sky130, simulation, mismatch on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~2.76 MHz = ~1.2 % |drift|, 85 vs -40 C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Souliotis 2022 [1]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180 nm, measured silicon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-1.5 % / +0.4 %, -40 to 120 C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Stancu 2023 [2]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simulation, 50 MHz clock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1.6 % temperature error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Geng 2018 [3]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180 nm, measured silicon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not reported as drift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&lt; 2 us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00000"/>
            <a:ext cx="1088136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Nominal simulation of an ideal network is competitive, but it is not like-for-like with measured silicon or with a transistor-level circuit. With chip-to-chip mismatch our residual (~1.2 %) is the same order as the published numbers.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No jitter or phase-noise number yet (no PSS/Pnoise in open tools), so [3]'s -117 dBc/Hz cannot be compared.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in the right ballpark, not proof of parity with fabricated designs.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What We Found and Corrected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75880"/>
          <a:ext cx="10881358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"/>
                <a:gridCol w="4185138"/>
                <a:gridCol w="6277707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Earlier claim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 marT="20000" marB="20000">
                    <a:solidFill>
                      <a:srgbClr val="1D2F82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sf / fs labels (sf = slow N)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reversed: PDK sf = fast N / slow P (measured)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Tempco set by N/P balance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set by NMOS overdrive; sign flips at 1.4 V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K_VCO = 669 MHz/V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~890 MHz/V (887 local slope at 0.9 V)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Hard oscillation floor at 0.63 V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none: 0.63 MHz at 0.5 V, 6.5 MHz at 0.6 V (window artefact)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Loop zeta 0.72 (1/(2 pi) dropped)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zeta 0.33 -&gt; retuned R2 = 3.6 k gives ~0.70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Compensation coefficients (wrong K_VCO)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refit: tt 0.16 % max dev, 8 / 11 corners meet spec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2nd order significantly better (n = 30)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 = 72, corrected fit: not significant; mismatch floor ~1.2-1.4 %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PDK skew corners lie inside ss-ff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wider than ss/ff; textbook 3 x 3 set added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Closed loop fine in all cases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ss / 85 C cold start 2083 ns misses 2 us by 4 %</a:t>
                      </a:r>
                    </a:p>
                  </a:txBody>
                  <a:tcPr marT="20000" marB="20000"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each fix came from our own audit and each is traceable to a re-run.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Known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Compensation network and charge pump are behavioural (ideal) models; no transistor-level versions yet.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No layout, DRC, LVS or post-layout simulation yet.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No jitter or phase-noise number (no PSS/Pnoise in open tools).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Phase margin is the 100 x zeta rule, not a Bode plot.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Only R2 = 1.7 / 3.0 / 3.6 kOhm simulated at transistor level; 3.6 k is not claimed optimal.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Cold start simulated on 11 corners at 27 C and at 3 corners for +/-temperature, not all 11 x all 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Compensation is fitted nominally at V_ctrl = 0.9 V; each corner actually locks at 0.85 - 0.97 V.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Mismatch limits compensated drift to ~1.2-1.4 %; the H1 test and Spectre arm are pending.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we state plainly what is ideal, nominal, or still missing.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Remaining Work / Next Phase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25880"/>
            <a:ext cx="1088136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D2F82"/>
                </a:solidFill>
                <a:latin typeface="Calibri"/>
              </a:rPr>
              <a:t>Circuit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Transistor-level charge pump and compensation network (PTAT/CTAT + squarer), then re-run the loop.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Define the compensation at each corner's own lock voltage; per-chip trim to beat the mismatch floor.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D2F82"/>
                </a:solidFill>
                <a:latin typeface="Calibri"/>
              </a:rPr>
              <a:t>Physical design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Layout in Magic, DRC, LVS (netgen, built), post-layout simulation.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D2F82"/>
                </a:solidFill>
                <a:latin typeface="Calibri"/>
              </a:rPr>
              <a:t>Validation and release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Virtuoso/Spectre cross-check arm, PSS/Pnoise, H1 regression (needs department Virtuoso access - to confirm with Dr. Bindu).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Spec sign-offs (V_ctrl floor revision, +/-0.15 ppm restatement); paper and artifact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the behavioural result is solid; the next phase makes it real hardware-shaped.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2F82"/>
                </a:solidFill>
                <a:latin typeface="Calibri"/>
              </a:rPr>
              <a:t>Final Review at a Glance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8 / 11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corners meet +/-0.3 % (tt 0.16 % max dev)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0080" y="1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8.51 -&gt; 0.20 %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tt span, baseline -&gt; 2nd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0080" y="1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31 - 44x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compensation ratio (PDK sf 15.9x)</a:t>
            </a:r>
          </a:p>
        </p:txBody>
      </p:sp>
      <p:sp>
        <p:nvSpPr>
          <p:cNvPr id="8" name="Rectangle 7"/>
          <p:cNvSpPr/>
          <p:nvPr/>
        </p:nvSpPr>
        <p:spPr>
          <a:xfrm>
            <a:off x="8920080" y="1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1D2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2F82"/>
                </a:solidFill>
                <a:latin typeface="Calibri"/>
              </a:rPr>
              <a:t>20.1 -&gt; 2.8 MHz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Monte Carlo |drift|, n = 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1.2 - 1.4 %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mismatch floor (per-chip trim needed)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0080" y="3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A9D8F"/>
                </a:solidFill>
                <a:latin typeface="Calibri"/>
              </a:rPr>
              <a:t>177 - 967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coarse-start lock, 11 corners, 27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0080" y="3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E0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07A1F"/>
                </a:solidFill>
                <a:latin typeface="Calibri"/>
              </a:rPr>
              <a:t>1283 - 1675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cold-start lock, 11 corners, 27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0080" y="3325880"/>
            <a:ext cx="2600000" cy="1800000"/>
          </a:xfrm>
          <a:prstGeom prst="rect">
            <a:avLst/>
          </a:prstGeom>
          <a:solidFill>
            <a:srgbClr val="F2F4F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2083 ns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ss / 85 C cold start: misses 2 us by 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00000"/>
            <a:ext cx="10881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zeta ~0.70 (R2 = 3.6 k); 15 references; 1 patent narrowed the claim; 9 corrections found by our own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0000"/>
            <a:ext cx="1088136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2F82"/>
                </a:solidFill>
                <a:latin typeface="Calibri"/>
              </a:rPr>
              <a:t>Takeaway: a verified, honest closed-loop study with its limits stated.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344</Words>
  <Application>Microsoft Macintosh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2026-09-23T05:52:39Z</dcterms:modified>
</cp:coreProperties>
</file>